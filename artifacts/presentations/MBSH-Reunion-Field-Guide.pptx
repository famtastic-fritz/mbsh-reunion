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1820588b2048f6" /><Relationship Type="http://schemas.openxmlformats.org/officeDocument/2006/relationships/extended-properties" Target="/docProps/app.xml" Id="Rc210bcd272604dab" /><Relationship Type="http://schemas.openxmlformats.org/officeDocument/2006/relationships/officeDocument" Target="/ppt/presentation.xml" Id="R5fe7c5a5a97a4e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9990a1ee64437f"/>
  </p:sldMasterIdLst>
  <p:notesMasterIdLst>
    <p:notesMasterId xmlns:r="http://schemas.openxmlformats.org/officeDocument/2006/relationships" r:id="Rbaa3832b21c44cfb"/>
  </p:notesMasterIdLst>
  <p:sldIdLst>
    <p:sldId xmlns:r="http://schemas.openxmlformats.org/officeDocument/2006/relationships" id="256" r:id="R1e450e89e4f44623"/>
    <p:sldId xmlns:r="http://schemas.openxmlformats.org/officeDocument/2006/relationships" id="257" r:id="R654d7f0dd77a4d6f"/>
    <p:sldId xmlns:r="http://schemas.openxmlformats.org/officeDocument/2006/relationships" id="258" r:id="R0ced0c1740e641d8"/>
    <p:sldId xmlns:r="http://schemas.openxmlformats.org/officeDocument/2006/relationships" id="259" r:id="R1ca9967db99c42d5"/>
    <p:sldId xmlns:r="http://schemas.openxmlformats.org/officeDocument/2006/relationships" id="260" r:id="Reb2788ff62f948ba"/>
    <p:sldId xmlns:r="http://schemas.openxmlformats.org/officeDocument/2006/relationships" id="261" r:id="R07cb7d9b8fd848a5"/>
    <p:sldId xmlns:r="http://schemas.openxmlformats.org/officeDocument/2006/relationships" id="262" r:id="R400b158c7c944ad1"/>
    <p:sldId xmlns:r="http://schemas.openxmlformats.org/officeDocument/2006/relationships" id="263" r:id="R71ce6244afc24b7e"/>
    <p:sldId xmlns:r="http://schemas.openxmlformats.org/officeDocument/2006/relationships" id="264" r:id="R254d62e90bf645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67591dd6964c5e" /><Relationship Type="http://schemas.openxmlformats.org/officeDocument/2006/relationships/slideMaster" Target="/ppt/slideMasters/slideMaster1.xml" Id="Rf19990a1ee64437f" /><Relationship Type="http://schemas.openxmlformats.org/officeDocument/2006/relationships/notesMaster" Target="/ppt/notesMasters/notesMaster1.xml" Id="Rbaa3832b21c44cfb" /><Relationship Type="http://schemas.openxmlformats.org/officeDocument/2006/relationships/presProps" Target="/ppt/presProps.xml" Id="R36ce9b8592ff4915" /><Relationship Type="http://schemas.openxmlformats.org/officeDocument/2006/relationships/tableStyles" Target="/ppt/tableStyles.xml" Id="R16b34e4556c34f3d" /><Relationship Type="http://schemas.openxmlformats.org/officeDocument/2006/relationships/slide" Target="/ppt/slides/slide1.xml" Id="R1e450e89e4f44623" /><Relationship Type="http://schemas.openxmlformats.org/officeDocument/2006/relationships/slide" Target="/ppt/slides/slide2.xml" Id="R654d7f0dd77a4d6f" /><Relationship Type="http://schemas.openxmlformats.org/officeDocument/2006/relationships/slide" Target="/ppt/slides/slide3.xml" Id="R0ced0c1740e641d8" /><Relationship Type="http://schemas.openxmlformats.org/officeDocument/2006/relationships/slide" Target="/ppt/slides/slide4.xml" Id="R1ca9967db99c42d5" /><Relationship Type="http://schemas.openxmlformats.org/officeDocument/2006/relationships/slide" Target="/ppt/slides/slide5.xml" Id="Reb2788ff62f948ba" /><Relationship Type="http://schemas.openxmlformats.org/officeDocument/2006/relationships/slide" Target="/ppt/slides/slide6.xml" Id="R07cb7d9b8fd848a5" /><Relationship Type="http://schemas.openxmlformats.org/officeDocument/2006/relationships/slide" Target="/ppt/slides/slide7.xml" Id="R400b158c7c944ad1" /><Relationship Type="http://schemas.openxmlformats.org/officeDocument/2006/relationships/slide" Target="/ppt/slides/slide8.xml" Id="R71ce6244afc24b7e" /><Relationship Type="http://schemas.openxmlformats.org/officeDocument/2006/relationships/slide" Target="/ppt/slides/slide9.xml" Id="R254d62e90bf645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b976029df74c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3c158195cc4e0b" /><Relationship Type="http://schemas.openxmlformats.org/officeDocument/2006/relationships/notesMaster" Target="/ppt/notesMasters/notesMaster1.xml" Id="Rb72558c1593148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6608e12c164150" /><Relationship Type="http://schemas.openxmlformats.org/officeDocument/2006/relationships/notesMaster" Target="/ppt/notesMasters/notesMaster1.xml" Id="R2b7eb67f873748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7e1b45cb43c4613" /><Relationship Type="http://schemas.openxmlformats.org/officeDocument/2006/relationships/notesMaster" Target="/ppt/notesMasters/notesMaster1.xml" Id="R0bbb7780e1df46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7e86f334b74c89" /><Relationship Type="http://schemas.openxmlformats.org/officeDocument/2006/relationships/notesMaster" Target="/ppt/notesMasters/notesMaster1.xml" Id="R5497d56151724a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ca810fd590487b" /><Relationship Type="http://schemas.openxmlformats.org/officeDocument/2006/relationships/notesMaster" Target="/ppt/notesMasters/notesMaster1.xml" Id="R7de52dcc667848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80a8c12249468a" /><Relationship Type="http://schemas.openxmlformats.org/officeDocument/2006/relationships/notesMaster" Target="/ppt/notesMasters/notesMaster1.xml" Id="R1f9221b07c4941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2337bad5ecd4e9f" /><Relationship Type="http://schemas.openxmlformats.org/officeDocument/2006/relationships/notesMaster" Target="/ppt/notesMasters/notesMaster1.xml" Id="R251e04cee0fd48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e44f28b5ec48a3" /><Relationship Type="http://schemas.openxmlformats.org/officeDocument/2006/relationships/notesMaster" Target="/ppt/notesMasters/notesMaster1.xml" Id="Ra26946dcff0745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fabdb737674d2b" /><Relationship Type="http://schemas.openxmlformats.org/officeDocument/2006/relationships/notesMaster" Target="/ppt/notesMasters/notesMaster1.xml" Id="Rae395f051d5b49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MBSH source: frontend/manual/index.html</a:t>
            </a:r>
          </a:p>
          <a:p xmlns:a="http://schemas.openxmlformats.org/drawingml/2006/main">
            <a:r>
              <a:t>- Internal MBSH source: docs/operations/MBSH_REUNION_FEATURE_ATLAS_V1.md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MBSH source: docs/architecture/EVENT_CINEMA_ARCHITECTURE.md</a:t>
            </a:r>
          </a:p>
          <a:p xmlns:a="http://schemas.openxmlformats.org/drawingml/2006/main">
            <a:r>
              <a:t>- Internal MBSH source: docs/operations/MBSH_REUNION_FEATURE_ATLAS_V1.md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MBSH source: frontend/js/cinematic-shell.js</a:t>
            </a:r>
          </a:p>
          <a:p xmlns:a="http://schemas.openxmlformats.org/drawingml/2006/main">
            <a:r>
              <a:t>- Internal MBSH source: frontend/rsvp.html</a:t>
            </a:r>
          </a:p>
          <a:p xmlns:a="http://schemas.openxmlformats.org/drawingml/2006/main">
            <a:r>
              <a:t>- Internal MBSH source: frontend/tickets.html</a:t>
            </a:r>
          </a:p>
          <a:p xmlns:a="http://schemas.openxmlformats.org/drawingml/2006/main">
            <a:r>
              <a:t>- Internal MBSH source: frontend/menu/index.html</a:t>
            </a:r>
          </a:p>
          <a:p xmlns:a="http://schemas.openxmlformats.org/drawingml/2006/main">
            <a:r>
              <a:t>- Internal MBSH source: docs/operations/MBSH_REUNION_FEATURE_ATLAS_V1.md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MBSH source: frontend/portal/index.html</a:t>
            </a:r>
          </a:p>
          <a:p xmlns:a="http://schemas.openxmlformats.org/drawingml/2006/main">
            <a:r>
              <a:t>- Internal MBSH source: frontend/portal/js/portal-api.js</a:t>
            </a:r>
          </a:p>
          <a:p xmlns:a="http://schemas.openxmlformats.org/drawingml/2006/main">
            <a:r>
              <a:t>- Internal MBSH source: backend/PORTAL_FRONTEND_CONTRACT.md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MBSH source: frontend/portal/committee/index.html</a:t>
            </a:r>
          </a:p>
          <a:p xmlns:a="http://schemas.openxmlformats.org/drawingml/2006/main">
            <a:r>
              <a:t>- Internal MBSH source: frontend/portal/js/committee-workspace.js</a:t>
            </a:r>
          </a:p>
          <a:p xmlns:a="http://schemas.openxmlformats.org/drawingml/2006/main">
            <a:r>
              <a:t>- Internal MBSH source: docs/architecture/PORTAL_STAFF_AUTHORIZATION_2026-08-16.md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MBSH source: frontend/portal/committee/index.html</a:t>
            </a:r>
          </a:p>
          <a:p xmlns:a="http://schemas.openxmlformats.org/drawingml/2006/main">
            <a:r>
              <a:t>- Internal MBSH source: frontend/portal/js/committee-workspace.js</a:t>
            </a:r>
          </a:p>
          <a:p xmlns:a="http://schemas.openxmlformats.org/drawingml/2006/main">
            <a:r>
              <a:t>- Internal MBSH source: docs/operations/MBSH_REUNION_FEATURE_ATLAS_V1.md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MBSH source: docs/architecture/EVENT_CINEMA_ARCHITECTURE.md</a:t>
            </a:r>
          </a:p>
          <a:p xmlns:a="http://schemas.openxmlformats.org/drawingml/2006/main">
            <a:r>
              <a:t>- Internal MBSH source: docs/architecture/WORDPRESS_PORTAL_FUNCTIONALITY_MAP_2026-08-16.md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MBSH source: docs/operations/MBSH_REUNION_FEATURE_ATLAS_V1.md</a:t>
            </a:r>
          </a:p>
          <a:p xmlns:a="http://schemas.openxmlformats.org/drawingml/2006/main">
            <a:r>
              <a:t>- Internal MBSH source: docs/architecture/EVENT_CINEMA_ARCHITECTURE.md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MBSH source: frontend/manual/index.html</a:t>
            </a:r>
          </a:p>
          <a:p xmlns:a="http://schemas.openxmlformats.org/drawingml/2006/main">
            <a:r>
              <a:t>- Internal MBSH source: frontend/js/reunion-manual.js</a:t>
            </a:r>
          </a:p>
          <a:p xmlns:a="http://schemas.openxmlformats.org/drawingml/2006/main">
            <a:r>
              <a:t>- Internal MBSH source: docs/operations/MBSH_REUNION_FEATURE_ATLAS_V1.md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0dffb8d8b4489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d00a544d714e5a" /><Relationship Type="http://schemas.openxmlformats.org/officeDocument/2006/relationships/slideLayout" Target="/ppt/slideLayouts/slideLayout1.xml" Id="Rb6534289b93c45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534289b93c45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8d551df1d4e36" /><Relationship Type="http://schemas.openxmlformats.org/officeDocument/2006/relationships/image" Target="/ppt/media/image.png" Id="R92396c6bc8ec40f7" /><Relationship Type="http://schemas.openxmlformats.org/officeDocument/2006/relationships/image" Target="/ppt/media/image2.png" Id="Rab3dac7efaca463a" /><Relationship Type="http://schemas.openxmlformats.org/officeDocument/2006/relationships/notesSlide" Target="/ppt/notesSlides/notesSlide1.xml" Id="Rbc68f09173c64b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bfb08b9e24b1e" /><Relationship Type="http://schemas.openxmlformats.org/officeDocument/2006/relationships/notesSlide" Target="/ppt/notesSlides/notesSlide2.xml" Id="R18bd5d6660db4d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dbc3ad35347e9" /><Relationship Type="http://schemas.openxmlformats.org/officeDocument/2006/relationships/image" Target="/ppt/media/image3.png" Id="Rb3280ffeba824408" /><Relationship Type="http://schemas.openxmlformats.org/officeDocument/2006/relationships/notesSlide" Target="/ppt/notesSlides/notesSlide3.xml" Id="Rcda62611673941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b8a684f4842f4" /><Relationship Type="http://schemas.openxmlformats.org/officeDocument/2006/relationships/image" Target="/ppt/media/image4.png" Id="Rcf519fff874e4f14" /><Relationship Type="http://schemas.openxmlformats.org/officeDocument/2006/relationships/notesSlide" Target="/ppt/notesSlides/notesSlide4.xml" Id="R26502da0fd1747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b131b876349c4" /><Relationship Type="http://schemas.openxmlformats.org/officeDocument/2006/relationships/image" Target="/ppt/media/image5.png" Id="Rc849d72d00a74b7e" /><Relationship Type="http://schemas.openxmlformats.org/officeDocument/2006/relationships/notesSlide" Target="/ppt/notesSlides/notesSlide5.xml" Id="Rb3dc02a2a53440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5d19d0b3945c5" /><Relationship Type="http://schemas.openxmlformats.org/officeDocument/2006/relationships/notesSlide" Target="/ppt/notesSlides/notesSlide6.xml" Id="Ree3573daf1464a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a7206906c463c" /><Relationship Type="http://schemas.openxmlformats.org/officeDocument/2006/relationships/notesSlide" Target="/ppt/notesSlides/notesSlide7.xml" Id="R4f5ad41fb5fe47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eea3ec7aa4b7c" /><Relationship Type="http://schemas.openxmlformats.org/officeDocument/2006/relationships/notesSlide" Target="/ppt/notesSlides/notesSlide8.xml" Id="R3a76d314189c40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4ddc313654b34" /><Relationship Type="http://schemas.openxmlformats.org/officeDocument/2006/relationships/image" Target="/ppt/media/image6.png" Id="Rd53972ae26b94305" /><Relationship Type="http://schemas.openxmlformats.org/officeDocument/2006/relationships/notesSlide" Target="/ppt/notesSlides/notesSlide9.xml" Id="Rc0ca8ea7641d46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3019E-3DBE-464D-B7A2-72272B77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708"/>
          </a:solidFill>
          <a:ln xmlns:a="http://schemas.openxmlformats.org/drawingml/2006/main" w="0">
            <a:solidFill>
              <a:srgbClr val="09070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C92A88-8778-46EB-A0DC-1A6D7FC6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402A7-6A57-4C3C-B2FA-312272D7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12039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080D"/>
          </a:solidFill>
          <a:ln xmlns:a="http://schemas.openxmlformats.org/drawingml/2006/main" w="0">
            <a:solidFill>
              <a:srgbClr val="12080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BBB04-3425-4FB4-A669-3DD1BDF6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0F19"/>
          </a:solidFill>
          <a:ln xmlns:a="http://schemas.openxmlformats.org/drawingml/2006/main" w="0">
            <a:solidFill>
              <a:srgbClr val="290F19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96c6bc8ec40f7"/>
          <a:stretch xmlns:a="http://schemas.openxmlformats.org/drawingml/2006/main"/>
        </p:blipFill>
        <p:spPr>
          <a:xfrm xmlns:a="http://schemas.openxmlformats.org/drawingml/2006/main">
            <a:off x="6838950" y="1143000"/>
            <a:ext cx="4191000" cy="4191000"/>
          </a:xfrm>
          <a:prstGeom xmlns:a="http://schemas.openxmlformats.org/drawingml/2006/main" prst="rect">
            <a:avLst/>
          </a:prstGeom>
        </p:spPr>
      </p:pic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dac7efaca463a"/>
          <a:stretch xmlns:a="http://schemas.openxmlformats.org/drawingml/2006/main"/>
        </p:blipFill>
        <p:spPr>
          <a:xfrm xmlns:a="http://schemas.openxmlformats.org/drawingml/2006/main">
            <a:off x="685800" y="49530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06E09-F1A4-47CE-9459-5C431DF1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0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E0B55A"/>
                </a:solidFill>
              </a:defRPr>
            </a:pPr>
            <a:r>
              <a:rPr sz="900" b="1" spc="1">
                <a:solidFill>
                  <a:srgbClr val="E0B55A"/>
                </a:solidFill>
              </a:rPr>
              <a:t>MBSH CLASS OF 1996 · 30TH REUNION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B6506-4C4D-4E79-BC5A-657A7693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5250" b="1">
                <a:solidFill>
                  <a:srgbClr val="F5EAD8"/>
                </a:solidFill>
              </a:defRPr>
            </a:pPr>
            <a:r>
              <a:rPr sz="5250" b="1">
                <a:solidFill>
                  <a:srgbClr val="F5EAD8"/>
                </a:solidFill>
              </a:rPr>
              <a:t>THE REUNION,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5250" b="1">
                <a:solidFill>
                  <a:srgbClr val="F5EAD8"/>
                </a:solidFill>
              </a:defRPr>
            </a:pPr>
            <a:r>
              <a:rPr sz="5250" b="1">
                <a:solidFill>
                  <a:srgbClr val="F5EAD8"/>
                </a:solidFill>
              </a:rPr>
              <a:t>EXPLAINED.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C95E4-F4DD-4AF0-A8D5-85FEDC17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i="1">
                <a:solidFill>
                  <a:srgbClr val="E0B55A"/>
                </a:solidFill>
              </a:defRPr>
            </a:pPr>
            <a:r>
              <a:rPr sz="1950" i="1">
                <a:solidFill>
                  <a:srgbClr val="E0B55A"/>
                </a:solidFill>
              </a:rPr>
              <a:t>A visual owner’s manual for every person who touches the reunion.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424F3-C001-4F3F-AAF4-83A7CE99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5048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C9BFB3"/>
                </a:solidFill>
              </a:defRPr>
            </a:pPr>
            <a:r>
              <a:rPr sz="1650">
                <a:solidFill>
                  <a:srgbClr val="C9BFB3"/>
                </a:solidFill>
              </a:rPr>
              <a:t>Visitors see a cinematic home. Alumni own a private reunion record. Committee members run the Desk. The Site Owner carries the control plane.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0E0C6-E522-4C77-B49F-211D5AA0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B55A"/>
          </a:solidFill>
          <a:ln xmlns:a="http://schemas.openxmlformats.org/drawingml/2006/main" w="0">
            <a:solidFill>
              <a:srgbClr val="E0B5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C6A48-64A8-4944-A9F5-8368B9B4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5EAD8"/>
                </a:solidFill>
              </a:defRPr>
            </a:pPr>
            <a:r>
              <a:rPr sz="900" b="1">
                <a:solidFill>
                  <a:srgbClr val="F5EAD8"/>
                </a:solidFill>
              </a:rPr>
              <a:t>ONLINE FIELD GUIDE  ·  /manual/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21E7E-5E01-4D35-B087-7F744859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F3E"/>
          </a:solidFill>
          <a:ln xmlns:a="http://schemas.openxmlformats.org/drawingml/2006/main" w="0">
            <a:solidFill>
              <a:srgbClr val="553F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32AC3-49C6-4B0E-8527-D2231585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C9BFB3"/>
                </a:solidFill>
              </a:defRPr>
            </a:pPr>
            <a:r>
              <a:rPr sz="750">
                <a:solidFill>
                  <a:srgbClr val="C9BFB3"/>
                </a:solidFill>
              </a:rPr>
              <a:t>MBSH Class of 1996 · Reunion Field Guide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62BA9E-AA99-4B4F-8E75-A08EB486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B55A"/>
                </a:solidFill>
              </a:defRPr>
            </a:pPr>
            <a:r>
              <a:rPr sz="900" b="1">
                <a:solidFill>
                  <a:srgbClr val="E0B55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857742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EA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E884A2-1CD9-40E4-A1F5-49E9C713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D8"/>
          </a:solidFill>
          <a:ln xmlns:a="http://schemas.openxmlformats.org/drawingml/2006/main" w="0">
            <a:solidFill>
              <a:srgbClr val="F5EA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F6038-915A-49A5-96CA-BF8E2C3C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F8757-810C-44CA-81B3-C7DC0D3A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C2946"/>
                </a:solidFill>
              </a:defRPr>
            </a:pPr>
            <a:r>
              <a:rPr sz="900" b="1" spc="1">
                <a:solidFill>
                  <a:srgbClr val="CC2946"/>
                </a:solidFill>
              </a:rPr>
              <a:t>SCENE 01 · START WITH THE RIGHT DOOR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BB833-F0F9-4210-8DCB-0CE01170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742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125" b="1">
                <a:solidFill>
                  <a:srgbClr val="1C1210"/>
                </a:solidFill>
              </a:defRPr>
            </a:pPr>
            <a:r>
              <a:rPr sz="4125" b="1">
                <a:solidFill>
                  <a:srgbClr val="1C1210"/>
                </a:solidFill>
              </a:rPr>
              <a:t>One reunion site.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4125" b="1">
                <a:solidFill>
                  <a:srgbClr val="1C1210"/>
                </a:solidFill>
              </a:defRPr>
            </a:pPr>
            <a:r>
              <a:rPr sz="4125" b="1">
                <a:solidFill>
                  <a:srgbClr val="1C1210"/>
                </a:solidFill>
              </a:rPr>
              <a:t>Four clear access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C80D5-B653-47A0-83E4-2A3435D3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55433D"/>
                </a:solidFill>
              </a:defRPr>
            </a:pPr>
            <a:r>
              <a:rPr sz="1650">
                <a:solidFill>
                  <a:srgbClr val="55433D"/>
                </a:solidFill>
              </a:rPr>
              <a:t>The experience is simple because authority is not. Each person begins at one real entry point and sees only the next layer they are allowed to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9F27C-7A0C-47B2-98BA-184AC227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4193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7"/>
          </a:solidFill>
          <a:ln xmlns:a="http://schemas.openxmlformats.org/drawingml/2006/main" w="0">
            <a:solidFill>
              <a:srgbClr val="6B554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3D03B-FD78-45F9-B5A6-B02A72A8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C2946"/>
                </a:solidFill>
              </a:defRPr>
            </a:pPr>
            <a:r>
              <a:rPr sz="1200" b="1">
                <a:solidFill>
                  <a:srgbClr val="CC2946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A8A6A3-5CBE-4E5B-AD68-FBE00F57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1210"/>
                </a:solidFill>
              </a:defRPr>
            </a:pPr>
            <a:r>
              <a:rPr sz="1725" b="1">
                <a:solidFill>
                  <a:srgbClr val="1C1210"/>
                </a:solidFill>
              </a:rPr>
              <a:t>Visitor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BBE2D-155D-4A00-A47C-704F29E4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0125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433D"/>
                </a:solidFill>
              </a:defRPr>
            </a:pPr>
            <a:r>
              <a:rPr sz="1200">
                <a:solidFill>
                  <a:srgbClr val="55433D"/>
                </a:solidFill>
              </a:rPr>
              <a:t>Explore event information, RSVP, request seats, add a memory, or create an account.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6C223-91C8-444C-B76C-BC307BF3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14750"/>
            <a:ext cx="24193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0C7"/>
          </a:solidFill>
          <a:ln xmlns:a="http://schemas.openxmlformats.org/drawingml/2006/main" w="0">
            <a:solidFill>
              <a:srgbClr val="6B55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86F13-6913-4A6C-B556-3C35AC9D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C2946"/>
                </a:solidFill>
              </a:defRPr>
            </a:pPr>
            <a:r>
              <a:rPr sz="1200" b="1">
                <a:solidFill>
                  <a:srgbClr val="CC294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66464-3CFA-4428-BA0A-AB5E8406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67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1210"/>
                </a:solidFill>
              </a:defRPr>
            </a:pPr>
            <a:r>
              <a:rPr sz="1725" b="1">
                <a:solidFill>
                  <a:srgbClr val="1C1210"/>
                </a:solidFill>
              </a:rPr>
              <a:t>Verified alumni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DF2536-B0B7-45F4-AFD5-4CF8C40A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10125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433D"/>
                </a:solidFill>
              </a:defRPr>
            </a:pPr>
            <a:r>
              <a:rPr sz="1200">
                <a:solidFill>
                  <a:srgbClr val="55433D"/>
                </a:solidFill>
              </a:rPr>
              <a:t>Use one private My Reunion account for personal replies, RSVP, dining, wallet, memories, and notices.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5F012-190E-453A-9B49-F8396165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24193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7"/>
          </a:solidFill>
          <a:ln xmlns:a="http://schemas.openxmlformats.org/drawingml/2006/main" w="0">
            <a:solidFill>
              <a:srgbClr val="6B55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9B116-0D0D-4BFC-B033-05F2F5A4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C2946"/>
                </a:solidFill>
              </a:defRPr>
            </a:pPr>
            <a:r>
              <a:rPr sz="1200" b="1">
                <a:solidFill>
                  <a:srgbClr val="CC2946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374DD-187F-429D-8699-8FA752DA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67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1210"/>
                </a:solidFill>
              </a:defRPr>
            </a:pPr>
            <a:r>
              <a:rPr sz="1725" b="1">
                <a:solidFill>
                  <a:srgbClr val="1C1210"/>
                </a:solidFill>
              </a:rPr>
              <a:t>Committee 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C0323-140F-4287-8D20-83A6FE112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433D"/>
                </a:solidFill>
              </a:defRPr>
            </a:pPr>
            <a:r>
              <a:rPr sz="1200">
                <a:solidFill>
                  <a:srgbClr val="55433D"/>
                </a:solidFill>
              </a:rPr>
              <a:t>Switch into a capability-filtered Committee Desk without becoming a WordPress administrator.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7E0FD2-754A-4086-8AFF-A9769834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14750"/>
            <a:ext cx="24193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7"/>
          </a:solidFill>
          <a:ln xmlns:a="http://schemas.openxmlformats.org/drawingml/2006/main" w="0">
            <a:solidFill>
              <a:srgbClr val="6B55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FA983-E41C-4ACB-B2DE-EEB6A5B0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24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C2946"/>
                </a:solidFill>
              </a:defRPr>
            </a:pPr>
            <a:r>
              <a:rPr sz="1200" b="1">
                <a:solidFill>
                  <a:srgbClr val="CC2946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F0260-4CF4-4564-BDA3-F4FF4CE5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672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C1210"/>
                </a:solidFill>
              </a:defRPr>
            </a:pPr>
            <a:r>
              <a:rPr sz="1725" b="1">
                <a:solidFill>
                  <a:srgbClr val="1C1210"/>
                </a:solidFill>
              </a:rPr>
              <a:t>Site 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3360C-442D-4991-8683-53DCD38A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810125"/>
            <a:ext cx="2019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433D"/>
                </a:solidFill>
              </a:defRPr>
            </a:pPr>
            <a:r>
              <a:rPr sz="1200">
                <a:solidFill>
                  <a:srgbClr val="55433D"/>
                </a:solidFill>
              </a:rPr>
              <a:t>Manage roles, audit, delivery health, components, and the separate CMS/commerce control plane.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9E3240-01A5-464F-96AA-8F615FA8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F3E"/>
          </a:solidFill>
          <a:ln xmlns:a="http://schemas.openxmlformats.org/drawingml/2006/main" w="0">
            <a:solidFill>
              <a:srgbClr val="553F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A840B6-0FA8-4A23-A474-0E41125C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C9BFB3"/>
                </a:solidFill>
              </a:defRPr>
            </a:pPr>
            <a:r>
              <a:rPr sz="750">
                <a:solidFill>
                  <a:srgbClr val="C9BFB3"/>
                </a:solidFill>
              </a:rPr>
              <a:t>MBSH Class of 1996 · Reunion Field Guide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3C97A3-D569-4DC7-8A41-0973DE86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B55A"/>
                </a:solidFill>
              </a:defRPr>
            </a:pPr>
            <a:r>
              <a:rPr sz="900" b="1">
                <a:solidFill>
                  <a:srgbClr val="E0B55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31167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6010C5-18CF-47DA-BDF8-C5BB093C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708"/>
          </a:solidFill>
          <a:ln xmlns:a="http://schemas.openxmlformats.org/drawingml/2006/main" w="0">
            <a:solidFill>
              <a:srgbClr val="09070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517E4-EC5B-4B6A-A1FB-721642BF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3E2C6-D45F-4E30-BFB2-8F416CE9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E0B55A"/>
                </a:solidFill>
              </a:defRPr>
            </a:pPr>
            <a:r>
              <a:rPr sz="900" b="1" spc="1">
                <a:solidFill>
                  <a:srgbClr val="E0B55A"/>
                </a:solidFill>
              </a:rPr>
              <a:t>SCENE 02 · THE PUBLIC STAGE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552C2-D37F-4BCE-AAC4-99F3F0FB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28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F5EAD8"/>
                </a:solidFill>
              </a:defRPr>
            </a:pPr>
            <a:r>
              <a:rPr sz="4050" b="1">
                <a:solidFill>
                  <a:srgbClr val="F5EAD8"/>
                </a:solidFill>
              </a:rPr>
              <a:t>The public site turns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F5EAD8"/>
                </a:solidFill>
              </a:defRPr>
            </a:pPr>
            <a:r>
              <a:rPr sz="4050" b="1">
                <a:solidFill>
                  <a:srgbClr val="F5EAD8"/>
                </a:solidFill>
              </a:rPr>
              <a:t>interest into action.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1E023-69EB-4D6F-91A5-2EB9FB5C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C9BFB3"/>
                </a:solidFill>
              </a:defRPr>
            </a:pPr>
            <a:r>
              <a:rPr sz="1650">
                <a:solidFill>
                  <a:srgbClr val="C9BFB3"/>
                </a:solidFill>
              </a:rPr>
              <a:t>Every public page answers a real reunion need. The guide shows what happens next—without promising an unproven payment, email, or archive feature.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9D1576-8E56-4126-B462-E068D867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0B55A"/>
                </a:solidFill>
              </a:defRPr>
            </a:pPr>
            <a:r>
              <a:rPr sz="825" b="1">
                <a:solidFill>
                  <a:srgbClr val="E0B55A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19F87B-3DC2-4FA3-A795-D4185E08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004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EAD8"/>
                </a:solidFill>
              </a:defRPr>
            </a:pPr>
            <a:r>
              <a:rPr sz="1350" b="1">
                <a:solidFill>
                  <a:srgbClr val="F5EAD8"/>
                </a:solidFill>
              </a:rPr>
              <a:t>RSVP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B5351-E30B-4175-9330-43714589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BFB3"/>
                </a:solidFill>
              </a:defRPr>
            </a:pPr>
            <a:r>
              <a:rPr sz="1200">
                <a:solidFill>
                  <a:srgbClr val="C9BFB3"/>
                </a:solidFill>
              </a:rPr>
              <a:t>Tell the committee you are coming.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2B566-33CA-4AC1-8F6F-FA717EF2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290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0B55A"/>
                </a:solidFill>
              </a:defRPr>
            </a:pPr>
            <a:r>
              <a:rPr sz="825" b="1">
                <a:solidFill>
                  <a:srgbClr val="E0B55A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A313A-D89A-49FD-B03D-DC1B6A7A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004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EAD8"/>
                </a:solidFill>
              </a:defRPr>
            </a:pPr>
            <a:r>
              <a:rPr sz="1350" b="1">
                <a:solidFill>
                  <a:srgbClr val="F5EAD8"/>
                </a:solidFill>
              </a:rPr>
              <a:t>Seats &amp; sponsors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616BA-CD7B-4F4C-9919-DCC5545A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57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BFB3"/>
                </a:solidFill>
              </a:defRPr>
            </a:pPr>
            <a:r>
              <a:rPr sz="1200">
                <a:solidFill>
                  <a:srgbClr val="C9BFB3"/>
                </a:solidFill>
              </a:rPr>
              <a:t>Request a seat or sponsor inquiry. Not checkout.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79642-9CEF-4592-B24B-7D2B0C08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0B55A"/>
                </a:solidFill>
              </a:defRPr>
            </a:pPr>
            <a:r>
              <a:rPr sz="825" b="1">
                <a:solidFill>
                  <a:srgbClr val="E0B55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215F1-EB46-4ECD-850E-0DF2B007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24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EAD8"/>
                </a:solidFill>
              </a:defRPr>
            </a:pPr>
            <a:r>
              <a:rPr sz="1350" b="1">
                <a:solidFill>
                  <a:srgbClr val="F5EAD8"/>
                </a:solidFill>
              </a:rPr>
              <a:t>Dinner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E05B7-B2B0-44E8-A12D-2FB84F8A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BFB3"/>
                </a:solidFill>
              </a:defRPr>
            </a:pPr>
            <a:r>
              <a:rPr sz="1200">
                <a:solidFill>
                  <a:srgbClr val="C9BFB3"/>
                </a:solidFill>
              </a:rPr>
              <a:t>Choose a meal and share dietary information.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173C6B-CCE7-47B8-97E2-0B1D18A8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529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0B55A"/>
                </a:solidFill>
              </a:defRPr>
            </a:pPr>
            <a:r>
              <a:rPr sz="825" b="1">
                <a:solidFill>
                  <a:srgbClr val="E0B55A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AA382B-9B7D-4585-A6B2-99DB2ECF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24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EAD8"/>
                </a:solidFill>
              </a:defRPr>
            </a:pPr>
            <a:r>
              <a:rPr sz="1350" b="1">
                <a:solidFill>
                  <a:srgbClr val="F5EAD8"/>
                </a:solidFill>
              </a:rPr>
              <a:t>Class check-in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3B8E46-3DDB-4299-9BB7-4EA8D944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81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BFB3"/>
                </a:solidFill>
              </a:defRPr>
            </a:pPr>
            <a:r>
              <a:rPr sz="1200">
                <a:solidFill>
                  <a:srgbClr val="C9BFB3"/>
                </a:solidFill>
              </a:rPr>
              <a:t>Help the class plan the night.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A3D24-E6CD-4025-BA2E-3B16F120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0B55A"/>
                </a:solidFill>
              </a:defRPr>
            </a:pPr>
            <a:r>
              <a:rPr sz="825" b="1">
                <a:solidFill>
                  <a:srgbClr val="E0B55A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489C61-8479-421E-B223-AD9FECC6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482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EAD8"/>
                </a:solidFill>
              </a:defRPr>
            </a:pPr>
            <a:r>
              <a:rPr sz="1350" b="1">
                <a:solidFill>
                  <a:srgbClr val="F5EAD8"/>
                </a:solidFill>
              </a:rPr>
              <a:t>Memory &amp; capsule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4C2A13-C20E-4922-8BC6-46700E78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05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BFB3"/>
                </a:solidFill>
              </a:defRPr>
            </a:pPr>
            <a:r>
              <a:rPr sz="1200">
                <a:solidFill>
                  <a:srgbClr val="C9BFB3"/>
                </a:solidFill>
              </a:rPr>
              <a:t>Submit a story or private note for review/delivery.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A7FBC-8AA1-4B59-A324-20CAB6C1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2768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E0B55A"/>
                </a:solidFill>
              </a:defRPr>
            </a:pPr>
            <a:r>
              <a:rPr sz="825" b="1">
                <a:solidFill>
                  <a:srgbClr val="E0B55A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D8F5B0-5262-4D15-B46B-CA4289EF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482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EAD8"/>
                </a:solidFill>
              </a:defRPr>
            </a:pPr>
            <a:r>
              <a:rPr sz="1350" b="1">
                <a:solidFill>
                  <a:srgbClr val="F5EAD8"/>
                </a:solidFill>
              </a:rPr>
              <a:t>Soundtrack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B7CBD7-4E70-4984-AFE6-5FD75674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05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BFB3"/>
                </a:solidFill>
              </a:defRPr>
            </a:pPr>
            <a:r>
              <a:rPr sz="1200">
                <a:solidFill>
                  <a:srgbClr val="C9BFB3"/>
                </a:solidFill>
              </a:rPr>
              <a:t>Send the song that belongs in the room.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280ffeba824408"/>
          <a:stretch xmlns:a="http://schemas.openxmlformats.org/drawingml/2006/main"/>
        </p:blipFill>
        <p:spPr>
          <a:xfrm xmlns:a="http://schemas.openxmlformats.org/drawingml/2006/main">
            <a:off x="7905750" y="1781175"/>
            <a:ext cx="2952750" cy="2952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C1593-63C4-44AA-87AE-D467014B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53050"/>
            <a:ext cx="295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0B55A"/>
                </a:solidFill>
              </a:defRPr>
            </a:pPr>
            <a:r>
              <a:rPr sz="1200" b="1">
                <a:solidFill>
                  <a:srgbClr val="E0B55A"/>
                </a:solidFill>
              </a:rPr>
              <a:t>PUBLIC DOES NOT MEAN</a:t>
            </a:r>
          </a:p>
          <a:p xmlns:a="http://schemas.openxmlformats.org/drawingml/2006/main">
            <a:pPr algn="ctr">
              <a:defRPr sz="1200" b="1">
                <a:solidFill>
                  <a:srgbClr val="E0B55A"/>
                </a:solidFill>
              </a:defRPr>
            </a:pPr>
            <a:r>
              <a:rPr sz="1200" b="1">
                <a:solidFill>
                  <a:srgbClr val="E0B55A"/>
                </a:solidFill>
              </a:rPr>
              <a:t>UNGUARDED.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6B994F-FB6F-40E1-BB33-3E8D2C1E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F3E"/>
          </a:solidFill>
          <a:ln xmlns:a="http://schemas.openxmlformats.org/drawingml/2006/main" w="0">
            <a:solidFill>
              <a:srgbClr val="553F3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D5BADB-6CCD-41FC-946C-7B27879F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C9BFB3"/>
                </a:solidFill>
              </a:defRPr>
            </a:pPr>
            <a:r>
              <a:rPr sz="750">
                <a:solidFill>
                  <a:srgbClr val="C9BFB3"/>
                </a:solidFill>
              </a:rPr>
              <a:t>MBSH Class of 1996 · Reunion Field Guide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5286F7-A6F6-4F6B-AEE9-73CFA87E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B55A"/>
                </a:solidFill>
              </a:defRPr>
            </a:pPr>
            <a:r>
              <a:rPr sz="900" b="1">
                <a:solidFill>
                  <a:srgbClr val="E0B55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579609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EA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4EF0A-F92E-42C9-BD03-D562B0B6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D8"/>
          </a:solidFill>
          <a:ln xmlns:a="http://schemas.openxmlformats.org/drawingml/2006/main" w="0">
            <a:solidFill>
              <a:srgbClr val="F5EA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5A07FF-25B3-468E-AF5F-DF78BC42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D369A-6967-4EC5-A5F8-ABC3DF09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C2946"/>
                </a:solidFill>
              </a:defRPr>
            </a:pPr>
            <a:r>
              <a:rPr sz="900" b="1" spc="1">
                <a:solidFill>
                  <a:srgbClr val="CC2946"/>
                </a:solidFill>
              </a:rPr>
              <a:t>SCENE 03 · MY REUNION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40337-31C9-44BB-85A4-AE5B8E89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85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1C1210"/>
                </a:solidFill>
              </a:defRPr>
            </a:pPr>
            <a:r>
              <a:rPr sz="4050" b="1">
                <a:solidFill>
                  <a:srgbClr val="1C1210"/>
                </a:solidFill>
              </a:rPr>
              <a:t>A registered alum owns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1C1210"/>
                </a:solidFill>
              </a:defRPr>
            </a:pPr>
            <a:r>
              <a:rPr sz="4050" b="1">
                <a:solidFill>
                  <a:srgbClr val="1C1210"/>
                </a:solidFill>
              </a:rPr>
              <a:t>one private reunion seat.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A936D-D208-47F8-B476-B6E8FC26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42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55433D"/>
                </a:solidFill>
              </a:defRPr>
            </a:pPr>
            <a:r>
              <a:rPr sz="1650">
                <a:solidFill>
                  <a:srgbClr val="55433D"/>
                </a:solidFill>
              </a:rPr>
              <a:t>My Reunion is not a public profile. It is a verified account with server-managed access, account-scoped records, and a personal view of the reunion.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19fff874e4f14"/>
          <a:stretch xmlns:a="http://schemas.openxmlformats.org/drawingml/2006/main"/>
        </p:blipFill>
        <p:spPr>
          <a:xfrm xmlns:a="http://schemas.openxmlformats.org/drawingml/2006/main">
            <a:off x="8524875" y="952500"/>
            <a:ext cx="19050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BE449-450E-45F7-9C3D-E9511284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62247-5AAF-4A67-9D5D-AD9580E7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1210"/>
                </a:solidFill>
              </a:defRPr>
            </a:pPr>
            <a:r>
              <a:rPr sz="1350" b="1">
                <a:solidFill>
                  <a:srgbClr val="1C1210"/>
                </a:solidFill>
              </a:rPr>
              <a:t>A personal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DFBAF0-BC50-4858-8F98-3E74FA92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528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55433D"/>
                </a:solidFill>
              </a:defRPr>
            </a:pPr>
            <a:r>
              <a:rPr sz="1125">
                <a:solidFill>
                  <a:srgbClr val="55433D"/>
                </a:solidFill>
              </a:rPr>
              <a:t>RSVP, guests, dining, phone, dietary and accessibility details live with the attendee record.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55DC26-4DAD-42D6-BD87-29E600CA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4E652-B1F6-4C84-BD66-CDAEDEF3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1210"/>
                </a:solidFill>
              </a:defRPr>
            </a:pPr>
            <a:r>
              <a:rPr sz="1350" b="1">
                <a:solidFill>
                  <a:srgbClr val="1C1210"/>
                </a:solidFill>
              </a:rPr>
              <a:t>A protected wallet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B6302E-FDCD-4347-9D7A-C2B9C2C2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910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55433D"/>
                </a:solidFill>
              </a:defRPr>
            </a:pPr>
            <a:r>
              <a:rPr sz="1125">
                <a:solidFill>
                  <a:srgbClr val="55433D"/>
                </a:solidFill>
              </a:rPr>
              <a:t>Only issued tickets for that attendee are shown; rotating credentials are never saved in browser storage.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CE9CD-FD67-4634-A76E-34C11460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52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F572C0-74E2-4C8E-BA37-83854DAB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48300"/>
            <a:ext cx="276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1210"/>
                </a:solidFill>
              </a:defRPr>
            </a:pPr>
            <a:r>
              <a:rPr sz="1350" b="1">
                <a:solidFill>
                  <a:srgbClr val="1C1210"/>
                </a:solidFill>
              </a:rPr>
              <a:t>A private contribution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7488A-8A2A-45E3-8E5C-1FED852B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4292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55433D"/>
                </a:solidFill>
              </a:defRPr>
            </a:pPr>
            <a:r>
              <a:rPr sz="1125">
                <a:solidFill>
                  <a:srgbClr val="55433D"/>
                </a:solidFill>
              </a:rPr>
              <a:t>Memories, ideas, conversations, trivia, and notification preferences stay attached to that account.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7A0F8-4771-49FD-B111-B1C996AA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F3E"/>
          </a:solidFill>
          <a:ln xmlns:a="http://schemas.openxmlformats.org/drawingml/2006/main" w="0">
            <a:solidFill>
              <a:srgbClr val="553F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2333BF-1F75-49F2-B9AA-BBAE90C6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C9BFB3"/>
                </a:solidFill>
              </a:defRPr>
            </a:pPr>
            <a:r>
              <a:rPr sz="750">
                <a:solidFill>
                  <a:srgbClr val="C9BFB3"/>
                </a:solidFill>
              </a:rPr>
              <a:t>MBSH Class of 1996 · Reunion Field Guide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5AF5F1-EECB-4558-8DF0-44B6394B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B55A"/>
                </a:solidFill>
              </a:defRPr>
            </a:pPr>
            <a:r>
              <a:rPr sz="900" b="1">
                <a:solidFill>
                  <a:srgbClr val="E0B55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5894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D3EE31-D7C2-4DDB-BA5F-8CA67BDF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708"/>
          </a:solidFill>
          <a:ln xmlns:a="http://schemas.openxmlformats.org/drawingml/2006/main" w="0">
            <a:solidFill>
              <a:srgbClr val="09070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AE506-DEC8-482D-8356-6EC68B72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4A86C-B01B-4454-9E25-48ECC584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E0B55A"/>
                </a:solidFill>
              </a:defRPr>
            </a:pPr>
            <a:r>
              <a:rPr sz="900" b="1" spc="1">
                <a:solidFill>
                  <a:srgbClr val="E0B55A"/>
                </a:solidFill>
              </a:rPr>
              <a:t>SCENE 04 · COMMITTEE DESK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1CCBA-A61F-4F10-8018-D927145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F5EAD8"/>
                </a:solidFill>
              </a:defRPr>
            </a:pPr>
            <a:r>
              <a:rPr sz="4050" b="1">
                <a:solidFill>
                  <a:srgbClr val="F5EAD8"/>
                </a:solidFill>
              </a:rPr>
              <a:t>The Desk makes shared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F5EAD8"/>
                </a:solidFill>
              </a:defRPr>
            </a:pPr>
            <a:r>
              <a:rPr sz="4050" b="1">
                <a:solidFill>
                  <a:srgbClr val="F5EAD8"/>
                </a:solidFill>
              </a:rPr>
              <a:t>work accountable.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AFC12-C48D-4621-976B-1B31CEC9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09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C9BFB3"/>
                </a:solidFill>
              </a:defRPr>
            </a:pPr>
            <a:r>
              <a:rPr sz="1650">
                <a:solidFill>
                  <a:srgbClr val="C9BFB3"/>
                </a:solidFill>
              </a:rPr>
              <a:t>Committee members remain alumni first. An active, server-checked role reveals only the operational views required to serve classmates.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9d72d00a74b7e"/>
          <a:stretch xmlns:a="http://schemas.openxmlformats.org/drawingml/2006/main"/>
        </p:blipFill>
        <p:spPr>
          <a:xfrm xmlns:a="http://schemas.openxmlformats.org/drawingml/2006/main">
            <a:off x="8191500" y="1152525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3322C-2689-4E94-A413-C7D08BE8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629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0D10"/>
          </a:solidFill>
          <a:ln xmlns:a="http://schemas.openxmlformats.org/drawingml/2006/main" w="0">
            <a:solidFill>
              <a:srgbClr val="6846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3C98B-2244-44CC-A325-6B42D397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0B55A"/>
                </a:solidFill>
              </a:defRPr>
            </a:pPr>
            <a:r>
              <a:rPr sz="1425" b="1">
                <a:solidFill>
                  <a:srgbClr val="E0B55A"/>
                </a:solidFill>
              </a:rPr>
              <a:t>People &amp; dinner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4C6E5-D626-46AF-B310-73AB6D33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BFB3"/>
                </a:solidFill>
              </a:defRPr>
            </a:pPr>
            <a:r>
              <a:rPr sz="1200">
                <a:solidFill>
                  <a:srgbClr val="C9BFB3"/>
                </a:solidFill>
              </a:rPr>
              <a:t>Search a protected record intentionally. Sensitive details are scoped and audited.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7274C-D95E-4D96-8E96-E37AE7B6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10000"/>
            <a:ext cx="4629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0D10"/>
          </a:solidFill>
          <a:ln xmlns:a="http://schemas.openxmlformats.org/drawingml/2006/main" w="0">
            <a:solidFill>
              <a:srgbClr val="6846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67B2C-0E54-48EA-B503-1B88DD15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62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0B55A"/>
                </a:solidFill>
              </a:defRPr>
            </a:pPr>
            <a:r>
              <a:rPr sz="1425" b="1">
                <a:solidFill>
                  <a:srgbClr val="E0B55A"/>
                </a:solidFill>
              </a:rPr>
              <a:t>Media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1FE72-10B9-4154-B6D2-B65C28BB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481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BFB3"/>
                </a:solidFill>
              </a:defRPr>
            </a:pPr>
            <a:r>
              <a:rPr sz="1200">
                <a:solidFill>
                  <a:srgbClr val="C9BFB3"/>
                </a:solidFill>
              </a:rPr>
              <a:t>Approve or return a submission. Original uploads remain private until the correct review path completes.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21072-C2A9-4340-819E-F6D7CB81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629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101C"/>
          </a:solidFill>
          <a:ln xmlns:a="http://schemas.openxmlformats.org/drawingml/2006/main" w="0">
            <a:solidFill>
              <a:srgbClr val="6846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E8712-0115-45B1-99B3-5BA0801A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0B55A"/>
                </a:solidFill>
              </a:defRPr>
            </a:pPr>
            <a:r>
              <a:rPr sz="1425" b="1">
                <a:solidFill>
                  <a:srgbClr val="E0B55A"/>
                </a:solidFill>
              </a:rPr>
              <a:t>Messages &amp; Harry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7471A-8470-47B0-B1C2-E0810C8F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BFB3"/>
                </a:solidFill>
              </a:defRPr>
            </a:pPr>
            <a:r>
              <a:rPr sz="1200">
                <a:solidFill>
                  <a:srgbClr val="C9BFB3"/>
                </a:solidFill>
              </a:rPr>
              <a:t>Keep questions, responses, and delivery intent in accountable conversation timelines.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9120D-2BFC-42CF-97C8-32E58836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914900"/>
            <a:ext cx="4629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0D10"/>
          </a:solidFill>
          <a:ln xmlns:a="http://schemas.openxmlformats.org/drawingml/2006/main" w="0">
            <a:solidFill>
              <a:srgbClr val="6846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D790EE-C53A-4E49-9025-B2F67540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67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0B55A"/>
                </a:solidFill>
              </a:defRPr>
            </a:pPr>
            <a:r>
              <a:rPr sz="1425" b="1">
                <a:solidFill>
                  <a:srgbClr val="E0B55A"/>
                </a:solidFill>
              </a:rPr>
              <a:t>Tickets &amp;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DECAC2-AAE5-4858-BBEF-4BC6D0C5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BFB3"/>
                </a:solidFill>
              </a:defRPr>
            </a:pPr>
            <a:r>
              <a:rPr sz="1200">
                <a:solidFill>
                  <a:srgbClr val="C9BFB3"/>
                </a:solidFill>
              </a:rPr>
              <a:t>Verify check-in credentials and review exceptions; commerce remains the financial authority.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522DDB-3410-4E79-9465-D3BC2CB5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F3E"/>
          </a:solidFill>
          <a:ln xmlns:a="http://schemas.openxmlformats.org/drawingml/2006/main" w="0">
            <a:solidFill>
              <a:srgbClr val="553F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41DC6-5E1D-4D64-9F0D-F255CD3D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C9BFB3"/>
                </a:solidFill>
              </a:defRPr>
            </a:pPr>
            <a:r>
              <a:rPr sz="750">
                <a:solidFill>
                  <a:srgbClr val="C9BFB3"/>
                </a:solidFill>
              </a:rPr>
              <a:t>MBSH Class of 1996 · Reunion Field Guide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BDC7ED-AAF5-4683-9B26-CF268FA2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B55A"/>
                </a:solidFill>
              </a:defRPr>
            </a:pPr>
            <a:r>
              <a:rPr sz="900" b="1">
                <a:solidFill>
                  <a:srgbClr val="E0B55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4635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EA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B301D-DD78-4D38-AD9D-3D10C14D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D8"/>
          </a:solidFill>
          <a:ln xmlns:a="http://schemas.openxmlformats.org/drawingml/2006/main" w="0">
            <a:solidFill>
              <a:srgbClr val="F5EA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BB1EF-2E3B-4FA9-B28A-6A6E971F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6F415-FE7B-49AB-ABC5-46BDF9B2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C2946"/>
                </a:solidFill>
              </a:defRPr>
            </a:pPr>
            <a:r>
              <a:rPr sz="900" b="1" spc="1">
                <a:solidFill>
                  <a:srgbClr val="CC2946"/>
                </a:solidFill>
              </a:rPr>
              <a:t>SCENE 05 · THE OWNER FLOOR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5DD64-DEE5-4D13-84CA-211EEF96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1C1210"/>
                </a:solidFill>
              </a:defRPr>
            </a:pPr>
            <a:r>
              <a:rPr sz="4050" b="1">
                <a:solidFill>
                  <a:srgbClr val="1C1210"/>
                </a:solidFill>
              </a:rPr>
              <a:t>Owners carry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1C1210"/>
                </a:solidFill>
              </a:defRPr>
            </a:pPr>
            <a:r>
              <a:rPr sz="4050" b="1">
                <a:solidFill>
                  <a:srgbClr val="1C1210"/>
                </a:solidFill>
              </a:rPr>
              <a:t>the hard boundaries.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824EC-E251-4A90-B84B-6A752145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55433D"/>
                </a:solidFill>
              </a:defRPr>
            </a:pPr>
            <a:r>
              <a:rPr sz="1650">
                <a:solidFill>
                  <a:srgbClr val="55433D"/>
                </a:solidFill>
              </a:rPr>
              <a:t>The Site Owner sees extra functions because they carry extra responsibility. This level is not advertised to public visitors or ordinary committee members.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58951-5F90-448D-93E7-01C07605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C2946"/>
                </a:solidFill>
              </a:defRPr>
            </a:pPr>
            <a:r>
              <a:rPr sz="900" b="1">
                <a:solidFill>
                  <a:srgbClr val="CC294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31259-EDFE-4017-ACD6-700B9440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8620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1210"/>
                </a:solidFill>
              </a:defRPr>
            </a:pPr>
            <a:r>
              <a:rPr sz="1350" b="1">
                <a:solidFill>
                  <a:srgbClr val="1C1210"/>
                </a:solidFill>
              </a:rPr>
              <a:t>Roles &amp; revocation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82D20-1EB7-4DB7-A1F5-F32DA4DD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766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433D"/>
                </a:solidFill>
              </a:defRPr>
            </a:pPr>
            <a:r>
              <a:rPr sz="1200">
                <a:solidFill>
                  <a:srgbClr val="55433D"/>
                </a:solidFill>
              </a:rPr>
              <a:t>Grant the smallest committee role that solves the job; every change is audited.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223D1-19C5-4442-ACFE-335795D4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95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C2946"/>
                </a:solidFill>
              </a:defRPr>
            </a:pPr>
            <a:r>
              <a:rPr sz="900" b="1">
                <a:solidFill>
                  <a:srgbClr val="CC294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2E36B-66BF-4AD2-BC65-7ED4FD7B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1210"/>
                </a:solidFill>
              </a:defRPr>
            </a:pPr>
            <a:r>
              <a:rPr sz="1350" b="1">
                <a:solidFill>
                  <a:srgbClr val="1C1210"/>
                </a:solidFill>
              </a:rPr>
              <a:t>Components &amp; content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0FE1D-958D-45F3-937D-0BEEA21F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481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433D"/>
                </a:solidFill>
              </a:defRPr>
            </a:pPr>
            <a:r>
              <a:rPr sz="1200">
                <a:solidFill>
                  <a:srgbClr val="55433D"/>
                </a:solidFill>
              </a:rPr>
              <a:t>Inspect the structured component map and authorize editorial changes in the separate CMS.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EBA12-9603-4D9F-B95B-D26C8CEA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673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C2946"/>
                </a:solidFill>
              </a:defRPr>
            </a:pPr>
            <a:r>
              <a:rPr sz="900" b="1">
                <a:solidFill>
                  <a:srgbClr val="CC2946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D8FB2-FBCA-4F94-BD04-F5C338B5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2920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1210"/>
                </a:solidFill>
              </a:defRPr>
            </a:pPr>
            <a:r>
              <a:rPr sz="1350" b="1">
                <a:solidFill>
                  <a:srgbClr val="1C1210"/>
                </a:solidFill>
              </a:rPr>
              <a:t>Delivery &amp; workers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A7151-02B2-404A-84A2-12B0AF2B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0196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433D"/>
                </a:solidFill>
              </a:defRPr>
            </a:pPr>
            <a:r>
              <a:rPr sz="1200">
                <a:solidFill>
                  <a:srgbClr val="55433D"/>
                </a:solidFill>
              </a:rPr>
              <a:t>Read queued, sent, retried, failed, and dead-letter state without mistaking “sent” for inbox proof.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CF8F1-11C4-4328-A749-ECD43969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C2946"/>
                </a:solidFill>
              </a:defRPr>
            </a:pPr>
            <a:r>
              <a:rPr sz="900" b="1">
                <a:solidFill>
                  <a:srgbClr val="CC2946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F40D1-6EC6-4181-85C8-F6D4459C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00700"/>
            <a:ext cx="2571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1210"/>
                </a:solidFill>
              </a:defRPr>
            </a:pPr>
            <a:r>
              <a:rPr sz="1350" b="1">
                <a:solidFill>
                  <a:srgbClr val="1C1210"/>
                </a:solidFill>
              </a:rPr>
              <a:t>Audit &amp; reconciliation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AC790-A08A-47AA-9CC8-66B085CE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91175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433D"/>
                </a:solidFill>
              </a:defRPr>
            </a:pPr>
            <a:r>
              <a:rPr sz="1200">
                <a:solidFill>
                  <a:srgbClr val="55433D"/>
                </a:solidFill>
              </a:rPr>
              <a:t>Compare sources, preserve evidence, and make destructive changes only with confirmation and a trail.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822359-959C-4311-9614-06A4008D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52500"/>
            <a:ext cx="16192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A10"/>
          </a:solidFill>
          <a:ln xmlns:a="http://schemas.openxmlformats.org/drawingml/2006/main" w="0">
            <a:solidFill>
              <a:srgbClr val="6D543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AD6027-4E1A-4B80-B7AE-3ACF8C89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00200"/>
            <a:ext cx="123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0B55A"/>
                </a:solidFill>
              </a:defRPr>
            </a:pPr>
            <a:r>
              <a:rPr sz="1650" b="1">
                <a:solidFill>
                  <a:srgbClr val="E0B55A"/>
                </a:solidFill>
              </a:rPr>
              <a:t>OWNER</a:t>
            </a:r>
          </a:p>
          <a:p xmlns:a="http://schemas.openxmlformats.org/drawingml/2006/main">
            <a:pPr algn="ctr">
              <a:defRPr sz="1650" b="1">
                <a:solidFill>
                  <a:srgbClr val="E0B55A"/>
                </a:solidFill>
              </a:defRPr>
            </a:pPr>
            <a:r>
              <a:rPr sz="1650" b="1">
                <a:solidFill>
                  <a:srgbClr val="E0B55A"/>
                </a:solidFill>
              </a:rPr>
              <a:t>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ACFDC-4926-4E9E-8EA5-CF38A469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95600"/>
            <a:ext cx="1238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F5EAD8"/>
                </a:solidFill>
              </a:defRPr>
            </a:pPr>
            <a:r>
              <a:rPr sz="1200">
                <a:solidFill>
                  <a:srgbClr val="F5EAD8"/>
                </a:solidFill>
              </a:rPr>
              <a:t>Never public navigation.</a:t>
            </a:r>
          </a:p>
          <a:p xmlns:a="http://schemas.openxmlformats.org/drawingml/2006/main">
            <a:pPr algn="ctr">
              <a:defRPr sz="1200">
                <a:solidFill>
                  <a:srgbClr val="F5EAD8"/>
                </a:solidFill>
              </a:defRPr>
            </a:pPr>
            <a:r>
              <a:rPr sz="1200">
                <a:solidFill>
                  <a:srgbClr val="F5EAD8"/>
                </a:solidFill>
              </a:rPr>
              <a:t>Never a shortcut around</a:t>
            </a:r>
          </a:p>
          <a:p xmlns:a="http://schemas.openxmlformats.org/drawingml/2006/main">
            <a:pPr algn="ctr">
              <a:defRPr sz="1200">
                <a:solidFill>
                  <a:srgbClr val="F5EAD8"/>
                </a:solidFill>
              </a:defRPr>
            </a:pPr>
            <a:r>
              <a:rPr sz="1200">
                <a:solidFill>
                  <a:srgbClr val="F5EAD8"/>
                </a:solidFill>
              </a:rPr>
              <a:t>server authorization.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847E28-57B6-4FDA-B3A8-1A18D6A6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F3E"/>
          </a:solidFill>
          <a:ln xmlns:a="http://schemas.openxmlformats.org/drawingml/2006/main" w="0">
            <a:solidFill>
              <a:srgbClr val="553F3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69FAD-182D-4A4A-8A56-64084B7B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C9BFB3"/>
                </a:solidFill>
              </a:defRPr>
            </a:pPr>
            <a:r>
              <a:rPr sz="750">
                <a:solidFill>
                  <a:srgbClr val="C9BFB3"/>
                </a:solidFill>
              </a:rPr>
              <a:t>MBSH Class of 1996 · Reunion Field Guide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FF4DA5-5F84-4B3F-81DB-D8758AE9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B55A"/>
                </a:solidFill>
              </a:defRPr>
            </a:pPr>
            <a:r>
              <a:rPr sz="900" b="1">
                <a:solidFill>
                  <a:srgbClr val="E0B55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2909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82648A-5C7A-4287-98F5-EB9C4E6B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708"/>
          </a:solidFill>
          <a:ln xmlns:a="http://schemas.openxmlformats.org/drawingml/2006/main" w="0">
            <a:solidFill>
              <a:srgbClr val="09070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7161A-714E-4BCB-BD04-319EA407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D5DBE-7876-40B7-9D8E-F622AEDB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E0B55A"/>
                </a:solidFill>
              </a:defRPr>
            </a:pPr>
            <a:r>
              <a:rPr sz="900" b="1" spc="1">
                <a:solidFill>
                  <a:srgbClr val="E0B55A"/>
                </a:solidFill>
              </a:rPr>
              <a:t>SCENE 06 · THE AUTHORITY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00A04-FC40-4412-9475-DD754A1B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676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F5EAD8"/>
                </a:solidFill>
              </a:defRPr>
            </a:pPr>
            <a:r>
              <a:rPr sz="4050" b="1">
                <a:solidFill>
                  <a:srgbClr val="F5EAD8"/>
                </a:solidFill>
              </a:rPr>
              <a:t>Every record has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F5EAD8"/>
                </a:solidFill>
              </a:defRPr>
            </a:pPr>
            <a:r>
              <a:rPr sz="4050" b="1">
                <a:solidFill>
                  <a:srgbClr val="F5EAD8"/>
                </a:solidFill>
              </a:rPr>
              <a:t>one responsible home.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F400C-5900-4AB9-936A-956AF008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57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C9BFB3"/>
                </a:solidFill>
              </a:defRPr>
            </a:pPr>
            <a:r>
              <a:rPr sz="1650">
                <a:solidFill>
                  <a:srgbClr val="C9BFB3"/>
                </a:solidFill>
              </a:rPr>
              <a:t>The online guide tells people what they can do. The authority map tells the team where the truth lives when something needs to be changed, reconciled, or recovered.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1A105-D3B7-4686-8E81-F85F8F01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19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0C10"/>
          </a:solidFill>
          <a:ln xmlns:a="http://schemas.openxmlformats.org/drawingml/2006/main" w="0">
            <a:solidFill>
              <a:srgbClr val="7A5B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3D8AC-DF09-4C60-9891-9A60171F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0B55A"/>
                </a:solidFill>
              </a:defRPr>
            </a:pPr>
            <a:r>
              <a:rPr sz="900" b="1">
                <a:solidFill>
                  <a:srgbClr val="E0B55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27361-DA88-49E7-ACE3-555E6859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EAD8"/>
                </a:solidFill>
              </a:defRPr>
            </a:pPr>
            <a:r>
              <a:rPr sz="1200" b="1">
                <a:solidFill>
                  <a:srgbClr val="F5EAD8"/>
                </a:solidFill>
              </a:rPr>
              <a:t>PUBLIC CINEMA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2D853-30D6-4263-8B75-45B79E29A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BFB3"/>
                </a:solidFill>
              </a:defRPr>
            </a:pPr>
            <a:r>
              <a:rPr sz="1200">
                <a:solidFill>
                  <a:srgbClr val="C9BFB3"/>
                </a:solidFill>
              </a:rPr>
              <a:t>Event story, visible forms, routes, and visitor experience.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EB45C8-D435-4EA4-9463-1924840B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905250"/>
            <a:ext cx="2419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11E"/>
          </a:solidFill>
          <a:ln xmlns:a="http://schemas.openxmlformats.org/drawingml/2006/main" w="0">
            <a:solidFill>
              <a:srgbClr val="7A5B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D4570-A11D-42E2-A284-329D51DC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76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0B55A"/>
                </a:solidFill>
              </a:defRPr>
            </a:pPr>
            <a:r>
              <a:rPr sz="900" b="1">
                <a:solidFill>
                  <a:srgbClr val="E0B55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ED8A7-9076-4E4E-9705-2547C87C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57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EAD8"/>
                </a:solidFill>
              </a:defRPr>
            </a:pPr>
            <a:r>
              <a:rPr sz="1200" b="1">
                <a:solidFill>
                  <a:srgbClr val="F5EAD8"/>
                </a:solidFill>
              </a:rPr>
              <a:t>PORTAL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2A1D8-1AA1-425A-A44A-CF5F80A7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3395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BFB3"/>
                </a:solidFill>
              </a:defRPr>
            </a:pPr>
            <a:r>
              <a:rPr sz="1200">
                <a:solidFill>
                  <a:srgbClr val="C9BFB3"/>
                </a:solidFill>
              </a:rPr>
              <a:t>Identity, private response, messages, preferences, submissions, ticket presentation.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6867B-B2CF-4A2D-8B9B-4F3F4B5A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2419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0E1C"/>
          </a:solidFill>
          <a:ln xmlns:a="http://schemas.openxmlformats.org/drawingml/2006/main" w="0">
            <a:solidFill>
              <a:srgbClr val="7A5B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827E21-A9EF-48B5-9CDB-78EEFBD4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0B55A"/>
                </a:solidFill>
              </a:defRPr>
            </a:pPr>
            <a:r>
              <a:rPr sz="900" b="1">
                <a:solidFill>
                  <a:srgbClr val="E0B55A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BA267-74B7-4A84-9C1C-9B8CA65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EAD8"/>
                </a:solidFill>
              </a:defRPr>
            </a:pPr>
            <a:r>
              <a:rPr sz="1200" b="1">
                <a:solidFill>
                  <a:srgbClr val="F5EAD8"/>
                </a:solidFill>
              </a:rPr>
              <a:t>COMMITTEE DESK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D95C0B-12D3-49D6-A2FE-21493140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3395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BFB3"/>
                </a:solidFill>
              </a:defRPr>
            </a:pPr>
            <a:r>
              <a:rPr sz="1200">
                <a:solidFill>
                  <a:srgbClr val="C9BFB3"/>
                </a:solidFill>
              </a:rPr>
              <a:t>Capability-filtered operational work, review, and audited action.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324BA-98E3-4CF0-8599-A4396A48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05250"/>
            <a:ext cx="24193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2110"/>
          </a:solidFill>
          <a:ln xmlns:a="http://schemas.openxmlformats.org/drawingml/2006/main" w="0">
            <a:solidFill>
              <a:srgbClr val="7A5B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7D9C45-D6E3-4C46-BB21-32F2D4D8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767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0B55A"/>
                </a:solidFill>
              </a:defRPr>
            </a:pPr>
            <a:r>
              <a:rPr sz="900" b="1">
                <a:solidFill>
                  <a:srgbClr val="E0B55A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639DF2-1319-4048-ABD4-20625131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577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EAD8"/>
                </a:solidFill>
              </a:defRPr>
            </a:pPr>
            <a:r>
              <a:rPr sz="1200" b="1">
                <a:solidFill>
                  <a:srgbClr val="F5EAD8"/>
                </a:solidFill>
              </a:rPr>
              <a:t>CMS &amp; COMMERCE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DCA41-D5A4-4F2F-9643-5BB11FA9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933950"/>
            <a:ext cx="2019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C9BFB3"/>
                </a:solidFill>
              </a:defRPr>
            </a:pPr>
            <a:r>
              <a:rPr sz="1200">
                <a:solidFill>
                  <a:srgbClr val="C9BFB3"/>
                </a:solidFill>
              </a:rPr>
              <a:t>Editable content, products, orders, refunds, and financial truth.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BE18DC-92C9-4FF1-92CA-21F8A81A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i="1">
                <a:solidFill>
                  <a:srgbClr val="E0B55A"/>
                </a:solidFill>
              </a:defRPr>
            </a:pPr>
            <a:r>
              <a:rPr sz="1500" i="1">
                <a:solidFill>
                  <a:srgbClr val="E0B55A"/>
                </a:solidFill>
              </a:rPr>
              <a:t>A beautiful screen is never enough. The reliable system underneath gives each promise an owner.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F1361-7305-46FE-BF86-DCB27261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F3E"/>
          </a:solidFill>
          <a:ln xmlns:a="http://schemas.openxmlformats.org/drawingml/2006/main" w="0">
            <a:solidFill>
              <a:srgbClr val="553F3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CBF2D1-FC91-4635-8BF4-7EAFB235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C9BFB3"/>
                </a:solidFill>
              </a:defRPr>
            </a:pPr>
            <a:r>
              <a:rPr sz="750">
                <a:solidFill>
                  <a:srgbClr val="C9BFB3"/>
                </a:solidFill>
              </a:rPr>
              <a:t>MBSH Class of 1996 · Reunion Field Guide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881515-DD09-432A-9695-B43797B5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B55A"/>
                </a:solidFill>
              </a:defRPr>
            </a:pPr>
            <a:r>
              <a:rPr sz="900" b="1">
                <a:solidFill>
                  <a:srgbClr val="E0B55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510899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EA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9264DA-8330-4419-B5AD-3D45B604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AD8"/>
          </a:solidFill>
          <a:ln xmlns:a="http://schemas.openxmlformats.org/drawingml/2006/main" w="0">
            <a:solidFill>
              <a:srgbClr val="F5EAD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19971-DE62-4409-A3F2-4B616216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554E6-8AFB-4550-87E2-FBC573E0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CC2946"/>
                </a:solidFill>
              </a:defRPr>
            </a:pPr>
            <a:r>
              <a:rPr sz="900" b="1" spc="1">
                <a:solidFill>
                  <a:srgbClr val="CC2946"/>
                </a:solidFill>
              </a:rPr>
              <a:t>SCENE 07 · TRUTH BEFORE FLOURISH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EBFB5-6546-4400-8188-B9E4CD61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04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1C1210"/>
                </a:solidFill>
              </a:defRPr>
            </a:pPr>
            <a:r>
              <a:rPr sz="4050" b="1">
                <a:solidFill>
                  <a:srgbClr val="1C1210"/>
                </a:solidFill>
              </a:rPr>
              <a:t>The guide calls out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4050" b="1">
                <a:solidFill>
                  <a:srgbClr val="1C1210"/>
                </a:solidFill>
              </a:defRPr>
            </a:pPr>
            <a:r>
              <a:rPr sz="4050" b="1">
                <a:solidFill>
                  <a:srgbClr val="1C1210"/>
                </a:solidFill>
              </a:rPr>
              <a:t>what is not ready, too.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11443-EEF0-441F-8145-47976BC9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19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55433D"/>
                </a:solidFill>
              </a:defRPr>
            </a:pPr>
            <a:r>
              <a:rPr sz="1650">
                <a:solidFill>
                  <a:srgbClr val="55433D"/>
                </a:solidFill>
              </a:rPr>
              <a:t>An owner’s manual is useful only when it refuses to turn a planned, empty, or launch-gated feature into a promise.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4BB3D-9BF1-4A32-BF0E-A2BB9EE9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5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C582A-2A5F-4B82-8965-88A08C06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1210"/>
                </a:solidFill>
              </a:defRPr>
            </a:pPr>
            <a:r>
              <a:rPr sz="1350" b="1">
                <a:solidFill>
                  <a:srgbClr val="1C1210"/>
                </a:solidFill>
              </a:rPr>
              <a:t>Seats are requests—not checkout.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54E5C-D02E-42CD-AE86-1A31BCF3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719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433D"/>
                </a:solidFill>
              </a:defRPr>
            </a:pPr>
            <a:r>
              <a:rPr sz="1200">
                <a:solidFill>
                  <a:srgbClr val="55433D"/>
                </a:solidFill>
              </a:rPr>
              <a:t>The current public ticket flow collects a request. It does not collect payment or issue admission.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0F8BE-7370-483C-B0B6-9F08F7EC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5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D46C4-D4C6-4399-A345-E8C8CDCC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1210"/>
                </a:solidFill>
              </a:defRPr>
            </a:pPr>
            <a:r>
              <a:rPr sz="1350" b="1">
                <a:solidFill>
                  <a:srgbClr val="1C1210"/>
                </a:solidFill>
              </a:rPr>
              <a:t>Submitted media is not public.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BF8AF-1094-4C52-91EC-6F61AF7B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196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433D"/>
                </a:solidFill>
              </a:defRPr>
            </a:pPr>
            <a:r>
              <a:rPr sz="1200">
                <a:solidFill>
                  <a:srgbClr val="55433D"/>
                </a:solidFill>
              </a:rPr>
              <a:t>A member upload is private until review, rights, and the publication path complete.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60335-CC7A-4B9B-858B-4FE85D16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5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5D7660-E5FE-43B2-88A7-13C42719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1210"/>
                </a:solidFill>
              </a:defRPr>
            </a:pPr>
            <a:r>
              <a:rPr sz="1350" b="1">
                <a:solidFill>
                  <a:srgbClr val="1C1210"/>
                </a:solidFill>
              </a:rPr>
              <a:t>“Sent” is not inbox delivery.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A21576-1E05-4EDE-BD21-A308A4A4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0673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433D"/>
                </a:solidFill>
              </a:defRPr>
            </a:pPr>
            <a:r>
              <a:rPr sz="1200">
                <a:solidFill>
                  <a:srgbClr val="55433D"/>
                </a:solidFill>
              </a:rPr>
              <a:t>Outbox state, retries, and provider confirmation are separate from a recipient seeing a message.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ED73D-7A98-4DBD-B0BE-EDC0804D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52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9CB8C-8ADF-4C64-9AE2-A699B1AF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C1210"/>
                </a:solidFill>
              </a:defRPr>
            </a:pPr>
            <a:r>
              <a:rPr sz="1350" b="1">
                <a:solidFill>
                  <a:srgbClr val="1C1210"/>
                </a:solidFill>
              </a:rPr>
              <a:t>A screen cannot grant access.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F20D24-BF09-4C6C-934F-B3704909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715000"/>
            <a:ext cx="561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433D"/>
                </a:solidFill>
              </a:defRPr>
            </a:pPr>
            <a:r>
              <a:rPr sz="1200">
                <a:solidFill>
                  <a:srgbClr val="55433D"/>
                </a:solidFill>
              </a:rPr>
              <a:t>Every committee and owner action must pass the same server-side membership and capability check.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BBD97-A509-4632-8142-9A214B1C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F3E"/>
          </a:solidFill>
          <a:ln xmlns:a="http://schemas.openxmlformats.org/drawingml/2006/main" w="0">
            <a:solidFill>
              <a:srgbClr val="553F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AB74D5-F404-48D5-AA30-71012F19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C9BFB3"/>
                </a:solidFill>
              </a:defRPr>
            </a:pPr>
            <a:r>
              <a:rPr sz="750">
                <a:solidFill>
                  <a:srgbClr val="C9BFB3"/>
                </a:solidFill>
              </a:rPr>
              <a:t>MBSH Class of 1996 · Reunion Field Guide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0CEE3-0CEF-4548-A744-69CA9C80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B55A"/>
                </a:solidFill>
              </a:defRPr>
            </a:pPr>
            <a:r>
              <a:rPr sz="900" b="1">
                <a:solidFill>
                  <a:srgbClr val="E0B55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63673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7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76F13-AABC-4BF5-84DB-38CC8D7F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708"/>
          </a:solidFill>
          <a:ln xmlns:a="http://schemas.openxmlformats.org/drawingml/2006/main" w="0">
            <a:solidFill>
              <a:srgbClr val="09070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DE6EF-005C-429E-B6E4-91E805FE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2946"/>
          </a:solidFill>
          <a:ln xmlns:a="http://schemas.openxmlformats.org/drawingml/2006/main" w="0">
            <a:solidFill>
              <a:srgbClr val="CC294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B7B94-7CC8-47CD-AE54-FA5F7B04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12039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090F"/>
          </a:solidFill>
          <a:ln xmlns:a="http://schemas.openxmlformats.org/drawingml/2006/main" w="0">
            <a:solidFill>
              <a:srgbClr val="18090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972ae26b94305"/>
          <a:stretch xmlns:a="http://schemas.openxmlformats.org/drawingml/2006/main"/>
        </p:blipFill>
        <p:spPr>
          <a:xfrm xmlns:a="http://schemas.openxmlformats.org/drawingml/2006/main">
            <a:off x="7867650" y="146685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85232-56DA-4530-8032-F9F07F8F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E0B55A"/>
                </a:solidFill>
              </a:defRPr>
            </a:pPr>
            <a:r>
              <a:rPr sz="900" b="1" spc="1">
                <a:solidFill>
                  <a:srgbClr val="E0B55A"/>
                </a:solidFill>
              </a:rPr>
              <a:t>FINAL SCENE · RETURN WHENEVER YOU NEED 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B4178-55F4-4CC6-ACF6-1FDCFAD6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47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2000"/>
              </a:lnSpc>
              <a:buNone/>
              <a:defRPr sz="4350" b="1">
                <a:solidFill>
                  <a:srgbClr val="F5EAD8"/>
                </a:solidFill>
              </a:defRPr>
            </a:pPr>
            <a:r>
              <a:rPr sz="4350" b="1">
                <a:solidFill>
                  <a:srgbClr val="F5EAD8"/>
                </a:solidFill>
              </a:rPr>
              <a:t>THE ONLINE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4350" b="1">
                <a:solidFill>
                  <a:srgbClr val="F5EAD8"/>
                </a:solidFill>
              </a:defRPr>
            </a:pPr>
            <a:r>
              <a:rPr sz="4350" b="1">
                <a:solidFill>
                  <a:srgbClr val="F5EAD8"/>
                </a:solidFill>
              </a:rPr>
              <a:t>FIELD GUIDE</a:t>
            </a:r>
          </a:p>
          <a:p xmlns:a="http://schemas.openxmlformats.org/drawingml/2006/main">
            <a:pPr>
              <a:lnSpc>
                <a:spcPct val="92000"/>
              </a:lnSpc>
              <a:buNone/>
              <a:defRPr sz="4350" b="1">
                <a:solidFill>
                  <a:srgbClr val="F5EAD8"/>
                </a:solidFill>
              </a:defRPr>
            </a:pPr>
            <a:r>
              <a:rPr sz="4350" b="1">
                <a:solidFill>
                  <a:srgbClr val="F5EAD8"/>
                </a:solidFill>
              </a:rPr>
              <a:t>IS THE FRONT DOOR.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B967B-F7BA-480A-AEEF-A753460C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650">
                <a:solidFill>
                  <a:srgbClr val="C9BFB3"/>
                </a:solidFill>
              </a:defRPr>
            </a:pPr>
            <a:r>
              <a:rPr sz="1650">
                <a:solidFill>
                  <a:srgbClr val="C9BFB3"/>
                </a:solidFill>
              </a:rPr>
              <a:t>It is the shareable overview. My Reunion and the Committee Desk carry the secure, role-aware detail once a person signs 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DDEA8-2053-4815-85DA-5FAF9B7D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276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B55A"/>
          </a:solidFill>
          <a:ln xmlns:a="http://schemas.openxmlformats.org/drawingml/2006/main" w="0">
            <a:solidFill>
              <a:srgbClr val="E0B5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80F5BC-438C-402E-935D-4D3776E4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0B55A"/>
                </a:solidFill>
              </a:defRPr>
            </a:pPr>
            <a:r>
              <a:rPr sz="1650" b="1">
                <a:solidFill>
                  <a:srgbClr val="E0B55A"/>
                </a:solidFill>
              </a:rPr>
              <a:t>mbsh96reunion.com/manual/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E4C2E-F608-4245-9D00-71A327E6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i="1">
                <a:solidFill>
                  <a:srgbClr val="F5EAD8"/>
                </a:solidFill>
              </a:defRPr>
            </a:pPr>
            <a:r>
              <a:rPr sz="1350" i="1">
                <a:solidFill>
                  <a:srgbClr val="F5EAD8"/>
                </a:solidFill>
              </a:rPr>
              <a:t>Keep the onboarding tours.</a:t>
            </a:r>
          </a:p>
          <a:p xmlns:a="http://schemas.openxmlformats.org/drawingml/2006/main">
            <a:pPr>
              <a:defRPr sz="1350" i="1">
                <a:solidFill>
                  <a:srgbClr val="F5EAD8"/>
                </a:solidFill>
              </a:defRPr>
            </a:pPr>
            <a:r>
              <a:rPr sz="1350" i="1">
                <a:solidFill>
                  <a:srgbClr val="F5EAD8"/>
                </a:solidFill>
              </a:rPr>
              <a:t>Use the Field Guide when someone wants the whole map.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588C40-3302-4D02-B361-4E33CF39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3F3E"/>
          </a:solidFill>
          <a:ln xmlns:a="http://schemas.openxmlformats.org/drawingml/2006/main" w="0">
            <a:solidFill>
              <a:srgbClr val="553F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C7506-5947-47E4-89B8-BC9F8686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704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C9BFB3"/>
                </a:solidFill>
              </a:defRPr>
            </a:pPr>
            <a:r>
              <a:rPr sz="750">
                <a:solidFill>
                  <a:srgbClr val="C9BFB3"/>
                </a:solidFill>
              </a:rPr>
              <a:t>MBSH Class of 1996 · Reunion Field Guide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AFB4D-EDCD-4F26-BF1C-BF4006B1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4770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B55A"/>
                </a:solidFill>
              </a:defRPr>
            </a:pPr>
            <a:r>
              <a:rPr sz="900" b="1">
                <a:solidFill>
                  <a:srgbClr val="E0B55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2147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2026-08-24T01:58:05.1060000Z</dcterms:created>
  <dcterms:modified xsi:type="dcterms:W3CDTF">2026-08-24T01:58:05.1060000Z</dcterms:modified>
</coreProperties>
</file>